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JetBrains Mon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JetBrainsMono-bold.fntdata"/><Relationship Id="rId16" Type="http://schemas.openxmlformats.org/officeDocument/2006/relationships/font" Target="fonts/JetBrainsMono-regular.fntdata"/><Relationship Id="rId5" Type="http://schemas.openxmlformats.org/officeDocument/2006/relationships/notesMaster" Target="notesMasters/notesMaster1.xml"/><Relationship Id="rId19" Type="http://schemas.openxmlformats.org/officeDocument/2006/relationships/font" Target="fonts/JetBrainsMono-boldItalic.fntdata"/><Relationship Id="rId6" Type="http://schemas.openxmlformats.org/officeDocument/2006/relationships/slide" Target="slides/slide1.xml"/><Relationship Id="rId18" Type="http://schemas.openxmlformats.org/officeDocument/2006/relationships/font" Target="fonts/JetBrainsMon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8f71f8ed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8f71f8ed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8f71f8ed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8f71f8ed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8f71f8ed5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8f71f8ed5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8f71f8ed5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8f71f8ed5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8f71f8ed5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8f71f8ed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f8f71f8ed5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f8f71f8ed5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8f71f8ed5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8f71f8ed5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8f71f8ed5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8f71f8ed5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8f71f8ed5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8f71f8ed5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sp>
        <p:nvSpPr>
          <p:cNvPr id="54" name="Google Shape;54;p13"/>
          <p:cNvSpPr txBox="1"/>
          <p:nvPr/>
        </p:nvSpPr>
        <p:spPr>
          <a:xfrm>
            <a:off x="264900" y="847675"/>
            <a:ext cx="3484800" cy="1475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800">
                <a:solidFill>
                  <a:srgbClr val="00FFFF"/>
                </a:solidFill>
                <a:latin typeface="JetBrains Mono"/>
                <a:ea typeface="JetBrains Mono"/>
                <a:cs typeface="JetBrains Mono"/>
                <a:sym typeface="JetBrains Mono"/>
              </a:rPr>
              <a:t>Command </a:t>
            </a:r>
            <a:r>
              <a:rPr lang="en" sz="1800">
                <a:solidFill>
                  <a:srgbClr val="00FF00"/>
                </a:solidFill>
                <a:latin typeface="JetBrains Mono"/>
                <a:ea typeface="JetBrains Mono"/>
                <a:cs typeface="JetBrains Mono"/>
                <a:sym typeface="JetBrains Mono"/>
              </a:rPr>
              <a:t>Line</a:t>
            </a:r>
            <a:r>
              <a:rPr lang="en" sz="1800">
                <a:solidFill>
                  <a:srgbClr val="00FFFF"/>
                </a:solidFill>
                <a:latin typeface="JetBrains Mono"/>
                <a:ea typeface="JetBrains Mono"/>
                <a:cs typeface="JetBrains Mono"/>
                <a:sym typeface="JetBrains Mono"/>
              </a:rPr>
              <a:t> </a:t>
            </a:r>
            <a:r>
              <a:rPr lang="en" sz="1800">
                <a:solidFill>
                  <a:schemeClr val="accent4"/>
                </a:solidFill>
                <a:latin typeface="JetBrains Mono"/>
                <a:ea typeface="JetBrains Mono"/>
                <a:cs typeface="JetBrains Mono"/>
                <a:sym typeface="JetBrains Mono"/>
              </a:rPr>
              <a:t>Interface</a:t>
            </a:r>
            <a:endParaRPr sz="1800">
              <a:solidFill>
                <a:schemeClr val="accent4"/>
              </a:solidFill>
              <a:latin typeface="JetBrains Mono"/>
              <a:ea typeface="JetBrains Mono"/>
              <a:cs typeface="JetBrains Mono"/>
              <a:sym typeface="JetBrains Mono"/>
            </a:endParaRPr>
          </a:p>
        </p:txBody>
      </p:sp>
      <p:sp>
        <p:nvSpPr>
          <p:cNvPr id="55" name="Google Shape;55;p13"/>
          <p:cNvSpPr txBox="1"/>
          <p:nvPr/>
        </p:nvSpPr>
        <p:spPr>
          <a:xfrm>
            <a:off x="-506425" y="1785500"/>
            <a:ext cx="10004100" cy="374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0">
                <a:solidFill>
                  <a:srgbClr val="FDFBD4"/>
                </a:solidFill>
                <a:latin typeface="JetBrains Mono"/>
                <a:ea typeface="JetBrains Mono"/>
                <a:cs typeface="JetBrains Mono"/>
                <a:sym typeface="JetBrains Mono"/>
              </a:rPr>
              <a:t>BANKING</a:t>
            </a:r>
            <a:endParaRPr b="1" sz="16000">
              <a:solidFill>
                <a:srgbClr val="FDFBD4"/>
              </a:solidFill>
              <a:latin typeface="JetBrains Mono"/>
              <a:ea typeface="JetBrains Mono"/>
              <a:cs typeface="JetBrains Mono"/>
              <a:sym typeface="JetBrains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320">
                <a:solidFill>
                  <a:srgbClr val="FDFBD4"/>
                </a:solidFill>
                <a:latin typeface="JetBrains Mono"/>
                <a:ea typeface="JetBrains Mono"/>
                <a:cs typeface="JetBrains Mono"/>
                <a:sym typeface="JetBrains Mono"/>
              </a:rPr>
              <a:t>The F</a:t>
            </a:r>
            <a:r>
              <a:rPr lang="en" sz="2320">
                <a:solidFill>
                  <a:srgbClr val="FDFBD4"/>
                </a:solidFill>
                <a:latin typeface="JetBrains Mono"/>
                <a:ea typeface="JetBrains Mono"/>
                <a:cs typeface="JetBrains Mono"/>
                <a:sym typeface="JetBrains Mono"/>
              </a:rPr>
              <a:t>uture</a:t>
            </a:r>
            <a:r>
              <a:rPr lang="en" sz="2320">
                <a:solidFill>
                  <a:srgbClr val="FDFBD4"/>
                </a:solidFill>
                <a:latin typeface="JetBrains Mono"/>
                <a:ea typeface="JetBrains Mono"/>
                <a:cs typeface="JetBrains Mono"/>
                <a:sym typeface="JetBrains Mono"/>
              </a:rPr>
              <a:t> Of Banking In 1969 Is Here…</a:t>
            </a:r>
            <a:r>
              <a:rPr lang="en" sz="2320">
                <a:solidFill>
                  <a:srgbClr val="FDFBD4"/>
                </a:solidFill>
                <a:latin typeface="JetBrains Mono"/>
                <a:ea typeface="JetBrains Mono"/>
                <a:cs typeface="JetBrains Mono"/>
                <a:sym typeface="JetBrains Mono"/>
              </a:rPr>
              <a:t> </a:t>
            </a:r>
            <a:r>
              <a:rPr lang="en" sz="2320">
                <a:solidFill>
                  <a:srgbClr val="FDFBD4"/>
                </a:solidFill>
                <a:latin typeface="JetBrains Mono"/>
                <a:ea typeface="JetBrains Mono"/>
                <a:cs typeface="JetBrains Mono"/>
                <a:sym typeface="JetBrains Mono"/>
              </a:rPr>
              <a:t>In 2025</a:t>
            </a:r>
            <a:endParaRPr sz="2320">
              <a:solidFill>
                <a:srgbClr val="FDFBD4"/>
              </a:solidFill>
              <a:latin typeface="JetBrains Mono"/>
              <a:ea typeface="JetBrains Mono"/>
              <a:cs typeface="JetBrains Mono"/>
              <a:sym typeface="JetBrains Mono"/>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FDFBD4"/>
                </a:solidFill>
                <a:latin typeface="JetBrains Mono"/>
                <a:ea typeface="JetBrains Mono"/>
                <a:cs typeface="JetBrains Mono"/>
                <a:sym typeface="JetBrains Mono"/>
              </a:rPr>
              <a:t>Bank of</a:t>
            </a:r>
            <a:r>
              <a:rPr lang="en">
                <a:solidFill>
                  <a:srgbClr val="F8FAFD"/>
                </a:solidFill>
                <a:latin typeface="JetBrains Mono"/>
                <a:ea typeface="JetBrains Mono"/>
                <a:cs typeface="JetBrains Mono"/>
                <a:sym typeface="JetBrains Mono"/>
              </a:rPr>
              <a:t> </a:t>
            </a:r>
            <a:r>
              <a:rPr lang="en">
                <a:solidFill>
                  <a:srgbClr val="00FFFF"/>
                </a:solidFill>
                <a:latin typeface="JetBrains Mono"/>
                <a:ea typeface="JetBrains Mono"/>
                <a:cs typeface="JetBrains Mono"/>
                <a:sym typeface="JetBrains Mono"/>
              </a:rPr>
              <a:t>C</a:t>
            </a:r>
            <a:r>
              <a:rPr lang="en">
                <a:solidFill>
                  <a:srgbClr val="00FF00"/>
                </a:solidFill>
                <a:latin typeface="JetBrains Mono"/>
                <a:ea typeface="JetBrains Mono"/>
                <a:cs typeface="JetBrains Mono"/>
                <a:sym typeface="JetBrains Mono"/>
              </a:rPr>
              <a:t>L</a:t>
            </a:r>
            <a:r>
              <a:rPr lang="en">
                <a:solidFill>
                  <a:srgbClr val="FF9900"/>
                </a:solidFill>
                <a:latin typeface="JetBrains Mono"/>
                <a:ea typeface="JetBrains Mono"/>
                <a:cs typeface="JetBrains Mono"/>
                <a:sym typeface="JetBrains Mono"/>
              </a:rPr>
              <a:t>I</a:t>
            </a:r>
            <a:r>
              <a:rPr lang="en">
                <a:solidFill>
                  <a:srgbClr val="F8FAFD"/>
                </a:solidFill>
                <a:latin typeface="JetBrains Mono"/>
                <a:ea typeface="JetBrains Mono"/>
                <a:cs typeface="JetBrains Mono"/>
                <a:sym typeface="JetBrains Mono"/>
              </a:rPr>
              <a:t> has brought a new way of banking through everyone’s terminal, so that </a:t>
            </a:r>
            <a:r>
              <a:rPr lang="en">
                <a:solidFill>
                  <a:srgbClr val="F8FAFD"/>
                </a:solidFill>
                <a:latin typeface="JetBrains Mono"/>
                <a:ea typeface="JetBrains Mono"/>
                <a:cs typeface="JetBrains Mono"/>
                <a:sym typeface="JetBrains Mono"/>
              </a:rPr>
              <a:t>everyone</a:t>
            </a:r>
            <a:r>
              <a:rPr lang="en">
                <a:solidFill>
                  <a:srgbClr val="F8FAFD"/>
                </a:solidFill>
                <a:latin typeface="JetBrains Mono"/>
                <a:ea typeface="JetBrains Mono"/>
                <a:cs typeface="JetBrains Mono"/>
                <a:sym typeface="JetBrains Mono"/>
              </a:rPr>
              <a:t> </a:t>
            </a:r>
            <a:r>
              <a:rPr lang="en">
                <a:solidFill>
                  <a:srgbClr val="F8FAFD"/>
                </a:solidFill>
                <a:latin typeface="JetBrains Mono"/>
                <a:ea typeface="JetBrains Mono"/>
                <a:cs typeface="JetBrains Mono"/>
                <a:sym typeface="JetBrains Mono"/>
              </a:rPr>
              <a:t>can</a:t>
            </a:r>
            <a:r>
              <a:rPr lang="en">
                <a:solidFill>
                  <a:srgbClr val="F8FAFD"/>
                </a:solidFill>
                <a:latin typeface="JetBrains Mono"/>
                <a:ea typeface="JetBrains Mono"/>
                <a:cs typeface="JetBrains Mono"/>
                <a:sym typeface="JetBrains Mono"/>
              </a:rPr>
              <a:t> enjoy banking from anywhere, everywhere</a:t>
            </a:r>
            <a:endParaRPr>
              <a:solidFill>
                <a:srgbClr val="F8FAFD"/>
              </a:solidFill>
              <a:latin typeface="JetBrains Mono"/>
              <a:ea typeface="JetBrains Mono"/>
              <a:cs typeface="JetBrains Mono"/>
              <a:sym typeface="JetBrains Mono"/>
            </a:endParaRPr>
          </a:p>
          <a:p>
            <a:pPr indent="0" lvl="0" marL="0" rtl="0" algn="l">
              <a:spcBef>
                <a:spcPts val="1200"/>
              </a:spcBef>
              <a:spcAft>
                <a:spcPts val="1200"/>
              </a:spcAft>
              <a:buNone/>
            </a:pPr>
            <a:r>
              <a:rPr lang="en">
                <a:solidFill>
                  <a:srgbClr val="F8FAFD"/>
                </a:solidFill>
                <a:latin typeface="JetBrains Mono"/>
                <a:ea typeface="JetBrains Mono"/>
                <a:cs typeface="JetBrains Mono"/>
                <a:sym typeface="JetBrains Mono"/>
              </a:rPr>
              <a:t>Enjoy abilities to have secure access to your accounts, manage your balance, make transactions, and have all records of everything you have ever done, all within the comfort of command inputs.</a:t>
            </a:r>
            <a:endParaRPr>
              <a:solidFill>
                <a:srgbClr val="F8FAFD"/>
              </a:solidFill>
              <a:latin typeface="JetBrains Mono"/>
              <a:ea typeface="JetBrains Mono"/>
              <a:cs typeface="JetBrains Mono"/>
              <a:sym typeface="JetBrains Mon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DFBD4"/>
                </a:solidFill>
                <a:latin typeface="JetBrains Mono"/>
                <a:ea typeface="JetBrains Mono"/>
                <a:cs typeface="JetBrains Mono"/>
                <a:sym typeface="JetBrains Mono"/>
              </a:rPr>
              <a:t>Before We Continue</a:t>
            </a:r>
            <a:endParaRPr>
              <a:solidFill>
                <a:srgbClr val="FDFBD4"/>
              </a:solidFill>
              <a:latin typeface="JetBrains Mono"/>
              <a:ea typeface="JetBrains Mono"/>
              <a:cs typeface="JetBrains Mono"/>
              <a:sym typeface="JetBrains Mono"/>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rgbClr val="F8FAFD"/>
                </a:solidFill>
                <a:latin typeface="JetBrains Mono"/>
                <a:ea typeface="JetBrains Mono"/>
                <a:cs typeface="JetBrains Mono"/>
                <a:sym typeface="JetBrains Mono"/>
              </a:rPr>
              <a:t>Concepts that will be covered during this demonstration</a:t>
            </a:r>
            <a:endParaRPr>
              <a:solidFill>
                <a:srgbClr val="F8FAFD"/>
              </a:solidFill>
              <a:latin typeface="JetBrains Mono"/>
              <a:ea typeface="JetBrains Mono"/>
              <a:cs typeface="JetBrains Mono"/>
              <a:sym typeface="JetBrains Mono"/>
            </a:endParaRPr>
          </a:p>
          <a:p>
            <a:pPr indent="-342900" lvl="0" marL="457200" rtl="0" algn="l">
              <a:spcBef>
                <a:spcPts val="1200"/>
              </a:spcBef>
              <a:spcAft>
                <a:spcPts val="0"/>
              </a:spcAft>
              <a:buClr>
                <a:srgbClr val="F8FAFD"/>
              </a:buClr>
              <a:buSzPts val="1800"/>
              <a:buFont typeface="JetBrains Mono"/>
              <a:buChar char="●"/>
            </a:pPr>
            <a:r>
              <a:rPr lang="en">
                <a:solidFill>
                  <a:srgbClr val="F8FAFD"/>
                </a:solidFill>
                <a:latin typeface="JetBrains Mono"/>
                <a:ea typeface="JetBrains Mono"/>
                <a:cs typeface="JetBrains Mono"/>
                <a:sym typeface="JetBrains Mono"/>
              </a:rPr>
              <a:t>Entity Relationships</a:t>
            </a:r>
            <a:endParaRPr>
              <a:solidFill>
                <a:srgbClr val="F8FAFD"/>
              </a:solidFill>
              <a:latin typeface="JetBrains Mono"/>
              <a:ea typeface="JetBrains Mono"/>
              <a:cs typeface="JetBrains Mono"/>
              <a:sym typeface="JetBrains Mono"/>
            </a:endParaRPr>
          </a:p>
          <a:p>
            <a:pPr indent="-342900" lvl="0" marL="457200" rtl="0" algn="l">
              <a:spcBef>
                <a:spcPts val="0"/>
              </a:spcBef>
              <a:spcAft>
                <a:spcPts val="0"/>
              </a:spcAft>
              <a:buClr>
                <a:srgbClr val="F8FAFD"/>
              </a:buClr>
              <a:buSzPts val="1800"/>
              <a:buFont typeface="JetBrains Mono"/>
              <a:buChar char="●"/>
            </a:pPr>
            <a:r>
              <a:rPr lang="en">
                <a:solidFill>
                  <a:srgbClr val="F8FAFD"/>
                </a:solidFill>
                <a:latin typeface="JetBrains Mono"/>
                <a:ea typeface="JetBrains Mono"/>
                <a:cs typeface="JetBrains Mono"/>
                <a:sym typeface="JetBrains Mono"/>
              </a:rPr>
              <a:t>JDBC</a:t>
            </a:r>
            <a:endParaRPr>
              <a:solidFill>
                <a:srgbClr val="F8FAFD"/>
              </a:solidFill>
              <a:latin typeface="JetBrains Mono"/>
              <a:ea typeface="JetBrains Mono"/>
              <a:cs typeface="JetBrains Mono"/>
              <a:sym typeface="JetBrains Mono"/>
            </a:endParaRPr>
          </a:p>
          <a:p>
            <a:pPr indent="-342900" lvl="0" marL="457200" rtl="0" algn="l">
              <a:spcBef>
                <a:spcPts val="0"/>
              </a:spcBef>
              <a:spcAft>
                <a:spcPts val="0"/>
              </a:spcAft>
              <a:buClr>
                <a:srgbClr val="F8FAFD"/>
              </a:buClr>
              <a:buSzPts val="1800"/>
              <a:buFont typeface="JetBrains Mono"/>
              <a:buChar char="●"/>
            </a:pPr>
            <a:r>
              <a:rPr lang="en">
                <a:solidFill>
                  <a:srgbClr val="F8FAFD"/>
                </a:solidFill>
                <a:latin typeface="JetBrains Mono"/>
                <a:ea typeface="JetBrains Mono"/>
                <a:cs typeface="JetBrains Mono"/>
                <a:sym typeface="JetBrains Mono"/>
              </a:rPr>
              <a:t>Postgres</a:t>
            </a:r>
            <a:endParaRPr>
              <a:solidFill>
                <a:srgbClr val="F8FAFD"/>
              </a:solidFill>
              <a:latin typeface="JetBrains Mono"/>
              <a:ea typeface="JetBrains Mono"/>
              <a:cs typeface="JetBrains Mono"/>
              <a:sym typeface="JetBrains Mono"/>
            </a:endParaRPr>
          </a:p>
          <a:p>
            <a:pPr indent="-342900" lvl="0" marL="457200" rtl="0" algn="l">
              <a:spcBef>
                <a:spcPts val="0"/>
              </a:spcBef>
              <a:spcAft>
                <a:spcPts val="0"/>
              </a:spcAft>
              <a:buClr>
                <a:srgbClr val="F8FAFD"/>
              </a:buClr>
              <a:buSzPts val="1800"/>
              <a:buFont typeface="JetBrains Mono"/>
              <a:buChar char="●"/>
            </a:pPr>
            <a:r>
              <a:rPr lang="en">
                <a:solidFill>
                  <a:srgbClr val="F8FAFD"/>
                </a:solidFill>
                <a:latin typeface="JetBrains Mono"/>
                <a:ea typeface="JetBrains Mono"/>
                <a:cs typeface="JetBrains Mono"/>
                <a:sym typeface="JetBrains Mono"/>
              </a:rPr>
              <a:t>Atomicity</a:t>
            </a:r>
            <a:r>
              <a:rPr lang="en">
                <a:solidFill>
                  <a:srgbClr val="F8FAFD"/>
                </a:solidFill>
                <a:latin typeface="JetBrains Mono"/>
                <a:ea typeface="JetBrains Mono"/>
                <a:cs typeface="JetBrains Mono"/>
                <a:sym typeface="JetBrains Mono"/>
              </a:rPr>
              <a:t> </a:t>
            </a:r>
            <a:endParaRPr>
              <a:solidFill>
                <a:srgbClr val="F8FAFD"/>
              </a:solidFill>
              <a:latin typeface="JetBrains Mono"/>
              <a:ea typeface="JetBrains Mono"/>
              <a:cs typeface="JetBrains Mono"/>
              <a:sym typeface="JetBrains Mono"/>
            </a:endParaRPr>
          </a:p>
          <a:p>
            <a:pPr indent="-342900" lvl="0" marL="457200" rtl="0" algn="l">
              <a:spcBef>
                <a:spcPts val="0"/>
              </a:spcBef>
              <a:spcAft>
                <a:spcPts val="0"/>
              </a:spcAft>
              <a:buClr>
                <a:srgbClr val="F8FAFD"/>
              </a:buClr>
              <a:buSzPts val="1800"/>
              <a:buFont typeface="JetBrains Mono"/>
              <a:buChar char="●"/>
            </a:pPr>
            <a:r>
              <a:rPr lang="en">
                <a:solidFill>
                  <a:srgbClr val="F8FAFD"/>
                </a:solidFill>
                <a:latin typeface="JetBrains Mono"/>
                <a:ea typeface="JetBrains Mono"/>
                <a:cs typeface="JetBrains Mono"/>
                <a:sym typeface="JetBrains Mono"/>
              </a:rPr>
              <a:t>Unit Testing</a:t>
            </a:r>
            <a:endParaRPr>
              <a:solidFill>
                <a:srgbClr val="F8FAFD"/>
              </a:solidFill>
              <a:latin typeface="JetBrains Mono"/>
              <a:ea typeface="JetBrains Mono"/>
              <a:cs typeface="JetBrains Mono"/>
              <a:sym typeface="JetBrains Mono"/>
            </a:endParaRPr>
          </a:p>
          <a:p>
            <a:pPr indent="-342900" lvl="0" marL="457200" rtl="0" algn="l">
              <a:spcBef>
                <a:spcPts val="0"/>
              </a:spcBef>
              <a:spcAft>
                <a:spcPts val="0"/>
              </a:spcAft>
              <a:buClr>
                <a:srgbClr val="F8FAFD"/>
              </a:buClr>
              <a:buSzPts val="1800"/>
              <a:buFont typeface="JetBrains Mono"/>
              <a:buChar char="●"/>
            </a:pPr>
            <a:r>
              <a:rPr lang="en">
                <a:solidFill>
                  <a:srgbClr val="F8FAFD"/>
                </a:solidFill>
                <a:latin typeface="JetBrains Mono"/>
                <a:ea typeface="JetBrains Mono"/>
                <a:cs typeface="JetBrains Mono"/>
                <a:sym typeface="JetBrains Mono"/>
              </a:rPr>
              <a:t>Maven</a:t>
            </a:r>
            <a:endParaRPr>
              <a:solidFill>
                <a:srgbClr val="F8FAFD"/>
              </a:solidFill>
              <a:latin typeface="JetBrains Mono"/>
              <a:ea typeface="JetBrains Mono"/>
              <a:cs typeface="JetBrains Mono"/>
              <a:sym typeface="JetBrains Mono"/>
            </a:endParaRPr>
          </a:p>
          <a:p>
            <a:pPr indent="0" lvl="0" marL="0" rtl="0" algn="l">
              <a:spcBef>
                <a:spcPts val="1200"/>
              </a:spcBef>
              <a:spcAft>
                <a:spcPts val="0"/>
              </a:spcAft>
              <a:buNone/>
            </a:pPr>
            <a:r>
              <a:rPr lang="en">
                <a:solidFill>
                  <a:srgbClr val="F8FAFD"/>
                </a:solidFill>
                <a:latin typeface="JetBrains Mono"/>
                <a:ea typeface="JetBrains Mono"/>
                <a:cs typeface="JetBrains Mono"/>
                <a:sym typeface="JetBrains Mono"/>
              </a:rPr>
              <a:t>	</a:t>
            </a:r>
            <a:endParaRPr>
              <a:solidFill>
                <a:srgbClr val="F8FAFD"/>
              </a:solidFill>
              <a:latin typeface="JetBrains Mono"/>
              <a:ea typeface="JetBrains Mono"/>
              <a:cs typeface="JetBrains Mono"/>
              <a:sym typeface="JetBrains Mono"/>
            </a:endParaRPr>
          </a:p>
          <a:p>
            <a:pPr indent="0" lvl="0" marL="0" rtl="0" algn="l">
              <a:spcBef>
                <a:spcPts val="1200"/>
              </a:spcBef>
              <a:spcAft>
                <a:spcPts val="1200"/>
              </a:spcAft>
              <a:buNone/>
            </a:pPr>
            <a:r>
              <a:rPr lang="en">
                <a:solidFill>
                  <a:srgbClr val="F8FAFD"/>
                </a:solidFill>
                <a:latin typeface="JetBrains Mono"/>
                <a:ea typeface="JetBrains Mono"/>
                <a:cs typeface="JetBrains Mono"/>
                <a:sym typeface="JetBrains Mono"/>
              </a:rPr>
              <a:t>	</a:t>
            </a:r>
            <a:endParaRPr>
              <a:solidFill>
                <a:srgbClr val="F8FAFD"/>
              </a:solidFill>
              <a:latin typeface="JetBrains Mono"/>
              <a:ea typeface="JetBrains Mono"/>
              <a:cs typeface="JetBrains Mono"/>
              <a:sym typeface="JetBrains Mon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solidFill>
                  <a:srgbClr val="FDFBD4"/>
                </a:solidFill>
                <a:latin typeface="JetBrains Mono"/>
                <a:ea typeface="JetBrains Mono"/>
                <a:cs typeface="JetBrains Mono"/>
                <a:sym typeface="JetBrains Mono"/>
              </a:rPr>
              <a:t>First, how did we get here?</a:t>
            </a:r>
            <a:endParaRPr>
              <a:solidFill>
                <a:srgbClr val="FDFBD4"/>
              </a:solidFill>
              <a:latin typeface="JetBrains Mono"/>
              <a:ea typeface="JetBrains Mono"/>
              <a:cs typeface="JetBrains Mono"/>
              <a:sym typeface="JetBrains Mono"/>
            </a:endParaRPr>
          </a:p>
        </p:txBody>
      </p:sp>
      <p:pic>
        <p:nvPicPr>
          <p:cNvPr id="73" name="Google Shape;73;p16" title="finalERDP0.drawio.png"/>
          <p:cNvPicPr preferRelativeResize="0"/>
          <p:nvPr/>
        </p:nvPicPr>
        <p:blipFill>
          <a:blip r:embed="rId3">
            <a:alphaModFix/>
          </a:blip>
          <a:stretch>
            <a:fillRect/>
          </a:stretch>
        </p:blipFill>
        <p:spPr>
          <a:xfrm>
            <a:off x="311700" y="1017725"/>
            <a:ext cx="8520600" cy="3542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DFBD4"/>
                </a:solidFill>
                <a:latin typeface="JetBrains Mono"/>
                <a:ea typeface="JetBrains Mono"/>
                <a:cs typeface="JetBrains Mono"/>
                <a:sym typeface="JetBrains Mono"/>
              </a:rPr>
              <a:t>What’s next?</a:t>
            </a:r>
            <a:endParaRPr>
              <a:solidFill>
                <a:srgbClr val="FDFBD4"/>
              </a:solidFill>
              <a:latin typeface="JetBrains Mono"/>
              <a:ea typeface="JetBrains Mono"/>
              <a:cs typeface="JetBrains Mono"/>
              <a:sym typeface="JetBrains Mono"/>
            </a:endParaRPr>
          </a:p>
        </p:txBody>
      </p:sp>
      <p:sp>
        <p:nvSpPr>
          <p:cNvPr id="79" name="Google Shape;79;p17"/>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F8FAFD"/>
                </a:solidFill>
                <a:latin typeface="JetBrains Mono"/>
                <a:ea typeface="JetBrains Mono"/>
                <a:cs typeface="JetBrains Mono"/>
                <a:sym typeface="JetBrains Mono"/>
              </a:rPr>
              <a:t>To track records in a database, </a:t>
            </a:r>
            <a:r>
              <a:rPr lang="en">
                <a:solidFill>
                  <a:srgbClr val="FDFBD4"/>
                </a:solidFill>
                <a:latin typeface="JetBrains Mono"/>
                <a:ea typeface="JetBrains Mono"/>
                <a:cs typeface="JetBrains Mono"/>
                <a:sym typeface="JetBrains Mono"/>
              </a:rPr>
              <a:t>Bank of</a:t>
            </a:r>
            <a:r>
              <a:rPr lang="en">
                <a:solidFill>
                  <a:srgbClr val="F8FAFD"/>
                </a:solidFill>
                <a:latin typeface="JetBrains Mono"/>
                <a:ea typeface="JetBrains Mono"/>
                <a:cs typeface="JetBrains Mono"/>
                <a:sym typeface="JetBrains Mono"/>
              </a:rPr>
              <a:t> </a:t>
            </a:r>
            <a:r>
              <a:rPr lang="en">
                <a:solidFill>
                  <a:srgbClr val="00FFFF"/>
                </a:solidFill>
                <a:latin typeface="JetBrains Mono"/>
                <a:ea typeface="JetBrains Mono"/>
                <a:cs typeface="JetBrains Mono"/>
                <a:sym typeface="JetBrains Mono"/>
              </a:rPr>
              <a:t>C</a:t>
            </a:r>
            <a:r>
              <a:rPr lang="en">
                <a:solidFill>
                  <a:srgbClr val="00FF00"/>
                </a:solidFill>
                <a:latin typeface="JetBrains Mono"/>
                <a:ea typeface="JetBrains Mono"/>
                <a:cs typeface="JetBrains Mono"/>
                <a:sym typeface="JetBrains Mono"/>
              </a:rPr>
              <a:t>L</a:t>
            </a:r>
            <a:r>
              <a:rPr lang="en">
                <a:solidFill>
                  <a:srgbClr val="FF9900"/>
                </a:solidFill>
                <a:latin typeface="JetBrains Mono"/>
                <a:ea typeface="JetBrains Mono"/>
                <a:cs typeface="JetBrains Mono"/>
                <a:sym typeface="JetBrains Mono"/>
              </a:rPr>
              <a:t>I</a:t>
            </a:r>
            <a:r>
              <a:rPr lang="en">
                <a:solidFill>
                  <a:srgbClr val="F8FAFD"/>
                </a:solidFill>
                <a:latin typeface="JetBrains Mono"/>
                <a:ea typeface="JetBrains Mono"/>
                <a:cs typeface="JetBrains Mono"/>
                <a:sym typeface="JetBrains Mono"/>
              </a:rPr>
              <a:t> uses PostgreSQL.</a:t>
            </a:r>
            <a:endParaRPr>
              <a:solidFill>
                <a:srgbClr val="F8FAFD"/>
              </a:solidFill>
              <a:latin typeface="JetBrains Mono"/>
              <a:ea typeface="JetBrains Mono"/>
              <a:cs typeface="JetBrains Mono"/>
              <a:sym typeface="JetBrains Mono"/>
            </a:endParaRPr>
          </a:p>
          <a:p>
            <a:pPr indent="0" lvl="0" marL="0" rtl="0" algn="l">
              <a:spcBef>
                <a:spcPts val="1200"/>
              </a:spcBef>
              <a:spcAft>
                <a:spcPts val="0"/>
              </a:spcAft>
              <a:buNone/>
            </a:pPr>
            <a:r>
              <a:rPr b="1" lang="en" u="sng">
                <a:solidFill>
                  <a:srgbClr val="F8FAFD"/>
                </a:solidFill>
                <a:latin typeface="JetBrains Mono"/>
                <a:ea typeface="JetBrains Mono"/>
                <a:cs typeface="JetBrains Mono"/>
                <a:sym typeface="JetBrains Mono"/>
              </a:rPr>
              <a:t>THE</a:t>
            </a:r>
            <a:r>
              <a:rPr b="1" lang="en">
                <a:solidFill>
                  <a:srgbClr val="F8FAFD"/>
                </a:solidFill>
                <a:latin typeface="JetBrains Mono"/>
                <a:ea typeface="JetBrains Mono"/>
                <a:cs typeface="JetBrains Mono"/>
                <a:sym typeface="JetBrains Mono"/>
              </a:rPr>
              <a:t> </a:t>
            </a:r>
            <a:r>
              <a:rPr lang="en">
                <a:solidFill>
                  <a:srgbClr val="F8FAFD"/>
                </a:solidFill>
                <a:latin typeface="JetBrains Mono"/>
                <a:ea typeface="JetBrains Mono"/>
                <a:cs typeface="JetBrains Mono"/>
                <a:sym typeface="JetBrains Mono"/>
              </a:rPr>
              <a:t>modern way to manage databases and transactions among them. </a:t>
            </a:r>
            <a:endParaRPr>
              <a:solidFill>
                <a:srgbClr val="F8FAFD"/>
              </a:solidFill>
              <a:latin typeface="JetBrains Mono"/>
              <a:ea typeface="JetBrains Mono"/>
              <a:cs typeface="JetBrains Mono"/>
              <a:sym typeface="JetBrains Mono"/>
            </a:endParaRPr>
          </a:p>
          <a:p>
            <a:pPr indent="0" lvl="0" marL="0" rtl="0" algn="l">
              <a:spcBef>
                <a:spcPts val="1200"/>
              </a:spcBef>
              <a:spcAft>
                <a:spcPts val="0"/>
              </a:spcAft>
              <a:buNone/>
            </a:pPr>
            <a:r>
              <a:rPr lang="en">
                <a:solidFill>
                  <a:srgbClr val="F8FAFD"/>
                </a:solidFill>
                <a:latin typeface="JetBrains Mono"/>
                <a:ea typeface="JetBrains Mono"/>
                <a:cs typeface="JetBrains Mono"/>
                <a:sym typeface="JetBrains Mono"/>
              </a:rPr>
              <a:t>	</a:t>
            </a:r>
            <a:endParaRPr>
              <a:solidFill>
                <a:srgbClr val="F8FAFD"/>
              </a:solidFill>
              <a:latin typeface="JetBrains Mono"/>
              <a:ea typeface="JetBrains Mono"/>
              <a:cs typeface="JetBrains Mono"/>
              <a:sym typeface="JetBrains Mono"/>
            </a:endParaRPr>
          </a:p>
          <a:p>
            <a:pPr indent="0" lvl="0" marL="0" rtl="0" algn="l">
              <a:spcBef>
                <a:spcPts val="1200"/>
              </a:spcBef>
              <a:spcAft>
                <a:spcPts val="1200"/>
              </a:spcAft>
              <a:buNone/>
            </a:pPr>
            <a:r>
              <a:rPr lang="en">
                <a:solidFill>
                  <a:srgbClr val="F8FAFD"/>
                </a:solidFill>
                <a:latin typeface="JetBrains Mono"/>
                <a:ea typeface="JetBrains Mono"/>
                <a:cs typeface="JetBrains Mono"/>
                <a:sym typeface="JetBrains Mono"/>
              </a:rPr>
              <a:t>	</a:t>
            </a:r>
            <a:endParaRPr>
              <a:solidFill>
                <a:srgbClr val="F8FAFD"/>
              </a:solidFill>
              <a:latin typeface="JetBrains Mono"/>
              <a:ea typeface="JetBrains Mono"/>
              <a:cs typeface="JetBrains Mono"/>
              <a:sym typeface="JetBrains Mono"/>
            </a:endParaRPr>
          </a:p>
        </p:txBody>
      </p:sp>
      <p:pic>
        <p:nvPicPr>
          <p:cNvPr id="80" name="Google Shape;80;p17"/>
          <p:cNvPicPr preferRelativeResize="0"/>
          <p:nvPr/>
        </p:nvPicPr>
        <p:blipFill>
          <a:blip r:embed="rId3">
            <a:alphaModFix/>
          </a:blip>
          <a:stretch>
            <a:fillRect/>
          </a:stretch>
        </p:blipFill>
        <p:spPr>
          <a:xfrm>
            <a:off x="3805256" y="0"/>
            <a:ext cx="5338738"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DFBD4"/>
                </a:solidFill>
                <a:latin typeface="JetBrains Mono"/>
                <a:ea typeface="JetBrains Mono"/>
                <a:cs typeface="JetBrains Mono"/>
                <a:sym typeface="JetBrains Mono"/>
              </a:rPr>
              <a:t>Where Does Java Play A Role In This?</a:t>
            </a:r>
            <a:endParaRPr>
              <a:solidFill>
                <a:srgbClr val="FDFBD4"/>
              </a:solidFill>
              <a:latin typeface="JetBrains Mono"/>
              <a:ea typeface="JetBrains Mono"/>
              <a:cs typeface="JetBrains Mono"/>
              <a:sym typeface="JetBrains Mono"/>
            </a:endParaRPr>
          </a:p>
        </p:txBody>
      </p:sp>
      <p:sp>
        <p:nvSpPr>
          <p:cNvPr id="86" name="Google Shape;86;p18"/>
          <p:cNvSpPr txBox="1"/>
          <p:nvPr>
            <p:ph idx="1" type="body"/>
          </p:nvPr>
        </p:nvSpPr>
        <p:spPr>
          <a:xfrm>
            <a:off x="311700" y="1152475"/>
            <a:ext cx="8520600" cy="953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F8FAFD"/>
                </a:solidFill>
                <a:latin typeface="JetBrains Mono"/>
                <a:ea typeface="JetBrains Mono"/>
                <a:cs typeface="JetBrains Mono"/>
                <a:sym typeface="JetBrains Mono"/>
              </a:rPr>
              <a:t>Our </a:t>
            </a:r>
            <a:r>
              <a:rPr lang="en">
                <a:solidFill>
                  <a:srgbClr val="F8FAFD"/>
                </a:solidFill>
                <a:latin typeface="JetBrains Mono"/>
                <a:ea typeface="JetBrains Mono"/>
                <a:cs typeface="JetBrains Mono"/>
                <a:sym typeface="JetBrains Mono"/>
              </a:rPr>
              <a:t>application</a:t>
            </a:r>
            <a:r>
              <a:rPr lang="en">
                <a:solidFill>
                  <a:srgbClr val="F8FAFD"/>
                </a:solidFill>
                <a:latin typeface="JetBrains Mono"/>
                <a:ea typeface="JetBrains Mono"/>
                <a:cs typeface="JetBrains Mono"/>
                <a:sym typeface="JetBrains Mono"/>
              </a:rPr>
              <a:t> has to interact with the PostgreSQL Database. Thankfully, Java has us covered.</a:t>
            </a:r>
            <a:endParaRPr>
              <a:solidFill>
                <a:srgbClr val="F8FAFD"/>
              </a:solidFill>
              <a:latin typeface="JetBrains Mono"/>
              <a:ea typeface="JetBrains Mono"/>
              <a:cs typeface="JetBrains Mono"/>
              <a:sym typeface="JetBrains Mono"/>
            </a:endParaRPr>
          </a:p>
        </p:txBody>
      </p:sp>
      <p:sp>
        <p:nvSpPr>
          <p:cNvPr id="87" name="Google Shape;87;p18"/>
          <p:cNvSpPr txBox="1"/>
          <p:nvPr>
            <p:ph idx="1" type="body"/>
          </p:nvPr>
        </p:nvSpPr>
        <p:spPr>
          <a:xfrm>
            <a:off x="311700" y="1971700"/>
            <a:ext cx="5193300" cy="2733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rgbClr val="F8FAFD"/>
                </a:solidFill>
                <a:latin typeface="JetBrains Mono"/>
                <a:ea typeface="JetBrains Mono"/>
                <a:cs typeface="JetBrains Mono"/>
                <a:sym typeface="JetBrains Mono"/>
              </a:rPr>
              <a:t>Maven - A build tool for Java projects that makes implementing dependencies easier. That way, we can use…</a:t>
            </a:r>
            <a:endParaRPr>
              <a:solidFill>
                <a:srgbClr val="F8FAFD"/>
              </a:solidFill>
              <a:latin typeface="JetBrains Mono"/>
              <a:ea typeface="JetBrains Mono"/>
              <a:cs typeface="JetBrains Mono"/>
              <a:sym typeface="JetBrains Mono"/>
            </a:endParaRPr>
          </a:p>
          <a:p>
            <a:pPr indent="0" lvl="0" marL="0" rtl="0" algn="l">
              <a:spcBef>
                <a:spcPts val="1200"/>
              </a:spcBef>
              <a:spcAft>
                <a:spcPts val="1200"/>
              </a:spcAft>
              <a:buNone/>
            </a:pPr>
            <a:r>
              <a:rPr lang="en">
                <a:solidFill>
                  <a:srgbClr val="F8FAFD"/>
                </a:solidFill>
                <a:latin typeface="JetBrains Mono"/>
                <a:ea typeface="JetBrains Mono"/>
                <a:cs typeface="JetBrains Mono"/>
                <a:sym typeface="JetBrains Mono"/>
              </a:rPr>
              <a:t>JDBC - A Java API that allows CLI (Java Application) to connect and interact with our PostgreSQL database.</a:t>
            </a:r>
            <a:endParaRPr>
              <a:solidFill>
                <a:srgbClr val="F8FAFD"/>
              </a:solidFill>
              <a:latin typeface="JetBrains Mono"/>
              <a:ea typeface="JetBrains Mono"/>
              <a:cs typeface="JetBrains Mono"/>
              <a:sym typeface="JetBrains Mono"/>
            </a:endParaRPr>
          </a:p>
        </p:txBody>
      </p:sp>
      <p:pic>
        <p:nvPicPr>
          <p:cNvPr id="88" name="Google Shape;88;p18"/>
          <p:cNvPicPr preferRelativeResize="0"/>
          <p:nvPr/>
        </p:nvPicPr>
        <p:blipFill>
          <a:blip r:embed="rId3">
            <a:alphaModFix/>
          </a:blip>
          <a:stretch>
            <a:fillRect/>
          </a:stretch>
        </p:blipFill>
        <p:spPr>
          <a:xfrm>
            <a:off x="5886676" y="1971700"/>
            <a:ext cx="2417125" cy="2733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2" name="Shape 92"/>
        <p:cNvGrpSpPr/>
        <p:nvPr/>
      </p:nvGrpSpPr>
      <p:grpSpPr>
        <a:xfrm>
          <a:off x="0" y="0"/>
          <a:ext cx="0" cy="0"/>
          <a:chOff x="0" y="0"/>
          <a:chExt cx="0" cy="0"/>
        </a:xfrm>
      </p:grpSpPr>
      <p:sp>
        <p:nvSpPr>
          <p:cNvPr id="93" name="Google Shape;93;p19"/>
          <p:cNvSpPr txBox="1"/>
          <p:nvPr>
            <p:ph type="title"/>
          </p:nvPr>
        </p:nvSpPr>
        <p:spPr>
          <a:xfrm>
            <a:off x="1942500" y="2285400"/>
            <a:ext cx="5259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rgbClr val="FDFBD4"/>
                </a:solidFill>
                <a:latin typeface="JetBrains Mono"/>
                <a:ea typeface="JetBrains Mono"/>
                <a:cs typeface="JetBrains Mono"/>
                <a:sym typeface="JetBrains Mono"/>
              </a:rPr>
              <a:t>Let Us</a:t>
            </a:r>
            <a:r>
              <a:rPr b="1" lang="en">
                <a:solidFill>
                  <a:srgbClr val="FDFBD4"/>
                </a:solidFill>
                <a:latin typeface="JetBrains Mono"/>
                <a:ea typeface="JetBrains Mono"/>
                <a:cs typeface="JetBrains Mono"/>
                <a:sym typeface="JetBrains Mono"/>
              </a:rPr>
              <a:t> Go Practice Banking</a:t>
            </a:r>
            <a:endParaRPr b="1">
              <a:solidFill>
                <a:srgbClr val="FDFBD4"/>
              </a:solidFill>
              <a:latin typeface="JetBrains Mono"/>
              <a:ea typeface="JetBrains Mono"/>
              <a:cs typeface="JetBrains Mono"/>
              <a:sym typeface="JetBrains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rgbClr val="FDFBD4"/>
                </a:solidFill>
                <a:latin typeface="JetBrains Mono"/>
                <a:ea typeface="JetBrains Mono"/>
                <a:cs typeface="JetBrains Mono"/>
                <a:sym typeface="JetBrains Mono"/>
              </a:rPr>
              <a:t>But Wait, There Is More!</a:t>
            </a:r>
            <a:endParaRPr b="1" i="1">
              <a:solidFill>
                <a:srgbClr val="FDFBD4"/>
              </a:solidFill>
              <a:latin typeface="JetBrains Mono"/>
              <a:ea typeface="JetBrains Mono"/>
              <a:cs typeface="JetBrains Mono"/>
              <a:sym typeface="JetBrains Mono"/>
            </a:endParaRPr>
          </a:p>
        </p:txBody>
      </p:sp>
      <p:sp>
        <p:nvSpPr>
          <p:cNvPr id="99" name="Google Shape;99;p20"/>
          <p:cNvSpPr txBox="1"/>
          <p:nvPr>
            <p:ph idx="1" type="body"/>
          </p:nvPr>
        </p:nvSpPr>
        <p:spPr>
          <a:xfrm>
            <a:off x="311700" y="1152475"/>
            <a:ext cx="8520600" cy="953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FDFBD4"/>
                </a:solidFill>
                <a:latin typeface="JetBrains Mono"/>
                <a:ea typeface="JetBrains Mono"/>
                <a:cs typeface="JetBrains Mono"/>
                <a:sym typeface="JetBrains Mono"/>
              </a:rPr>
              <a:t>Bank of</a:t>
            </a:r>
            <a:r>
              <a:rPr lang="en">
                <a:solidFill>
                  <a:srgbClr val="F8FAFD"/>
                </a:solidFill>
                <a:latin typeface="JetBrains Mono"/>
                <a:ea typeface="JetBrains Mono"/>
                <a:cs typeface="JetBrains Mono"/>
                <a:sym typeface="JetBrains Mono"/>
              </a:rPr>
              <a:t> </a:t>
            </a:r>
            <a:r>
              <a:rPr lang="en">
                <a:solidFill>
                  <a:srgbClr val="00FFFF"/>
                </a:solidFill>
                <a:latin typeface="JetBrains Mono"/>
                <a:ea typeface="JetBrains Mono"/>
                <a:cs typeface="JetBrains Mono"/>
                <a:sym typeface="JetBrains Mono"/>
              </a:rPr>
              <a:t>C</a:t>
            </a:r>
            <a:r>
              <a:rPr lang="en">
                <a:solidFill>
                  <a:srgbClr val="00FF00"/>
                </a:solidFill>
                <a:latin typeface="JetBrains Mono"/>
                <a:ea typeface="JetBrains Mono"/>
                <a:cs typeface="JetBrains Mono"/>
                <a:sym typeface="JetBrains Mono"/>
              </a:rPr>
              <a:t>L</a:t>
            </a:r>
            <a:r>
              <a:rPr lang="en">
                <a:solidFill>
                  <a:srgbClr val="FF9900"/>
                </a:solidFill>
                <a:latin typeface="JetBrains Mono"/>
                <a:ea typeface="JetBrains Mono"/>
                <a:cs typeface="JetBrains Mono"/>
                <a:sym typeface="JetBrains Mono"/>
              </a:rPr>
              <a:t>I</a:t>
            </a:r>
            <a:r>
              <a:rPr lang="en">
                <a:latin typeface="JetBrains Mono"/>
                <a:ea typeface="JetBrains Mono"/>
                <a:cs typeface="JetBrains Mono"/>
                <a:sym typeface="JetBrains Mono"/>
              </a:rPr>
              <a:t> </a:t>
            </a:r>
            <a:r>
              <a:rPr lang="en">
                <a:latin typeface="JetBrains Mono"/>
                <a:ea typeface="JetBrains Mono"/>
                <a:cs typeface="JetBrains Mono"/>
                <a:sym typeface="JetBrains Mono"/>
              </a:rPr>
              <a:t>executives c</a:t>
            </a:r>
            <a:r>
              <a:rPr lang="en">
                <a:latin typeface="JetBrains Mono"/>
                <a:ea typeface="JetBrains Mono"/>
                <a:cs typeface="JetBrains Mono"/>
                <a:sym typeface="JetBrains Mono"/>
              </a:rPr>
              <a:t>an view system logs of every interaction our </a:t>
            </a:r>
            <a:r>
              <a:rPr lang="en">
                <a:latin typeface="JetBrains Mono"/>
                <a:ea typeface="JetBrains Mono"/>
                <a:cs typeface="JetBrains Mono"/>
                <a:sym typeface="JetBrains Mono"/>
              </a:rPr>
              <a:t>customer</a:t>
            </a:r>
            <a:r>
              <a:rPr lang="en">
                <a:latin typeface="JetBrains Mono"/>
                <a:ea typeface="JetBrains Mono"/>
                <a:cs typeface="JetBrains Mono"/>
                <a:sym typeface="JetBrains Mono"/>
              </a:rPr>
              <a:t> makes.</a:t>
            </a:r>
            <a:endParaRPr>
              <a:latin typeface="JetBrains Mono"/>
              <a:ea typeface="JetBrains Mono"/>
              <a:cs typeface="JetBrains Mono"/>
              <a:sym typeface="JetBrains Mono"/>
            </a:endParaRPr>
          </a:p>
        </p:txBody>
      </p:sp>
      <p:pic>
        <p:nvPicPr>
          <p:cNvPr id="100" name="Google Shape;100;p20"/>
          <p:cNvPicPr preferRelativeResize="0"/>
          <p:nvPr/>
        </p:nvPicPr>
        <p:blipFill>
          <a:blip r:embed="rId3">
            <a:alphaModFix/>
          </a:blip>
          <a:stretch>
            <a:fillRect/>
          </a:stretch>
        </p:blipFill>
        <p:spPr>
          <a:xfrm>
            <a:off x="1944088" y="2105575"/>
            <a:ext cx="5255813" cy="2733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rgbClr val="FDFBD4"/>
                </a:solidFill>
                <a:latin typeface="JetBrains Mono"/>
                <a:ea typeface="JetBrains Mono"/>
                <a:cs typeface="JetBrains Mono"/>
                <a:sym typeface="JetBrains Mono"/>
              </a:rPr>
              <a:t>But Wait, There Is Even More!</a:t>
            </a:r>
            <a:endParaRPr b="1" i="1">
              <a:solidFill>
                <a:srgbClr val="FDFBD4"/>
              </a:solidFill>
              <a:latin typeface="JetBrains Mono"/>
              <a:ea typeface="JetBrains Mono"/>
              <a:cs typeface="JetBrains Mono"/>
              <a:sym typeface="JetBrains Mono"/>
            </a:endParaRPr>
          </a:p>
        </p:txBody>
      </p:sp>
      <p:sp>
        <p:nvSpPr>
          <p:cNvPr id="106" name="Google Shape;106;p21"/>
          <p:cNvSpPr txBox="1"/>
          <p:nvPr>
            <p:ph idx="1" type="body"/>
          </p:nvPr>
        </p:nvSpPr>
        <p:spPr>
          <a:xfrm>
            <a:off x="311700" y="1152475"/>
            <a:ext cx="8520600" cy="953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FDFBD4"/>
                </a:solidFill>
                <a:latin typeface="JetBrains Mono"/>
                <a:ea typeface="JetBrains Mono"/>
                <a:cs typeface="JetBrains Mono"/>
                <a:sym typeface="JetBrains Mono"/>
              </a:rPr>
              <a:t>Bank of</a:t>
            </a:r>
            <a:r>
              <a:rPr lang="en">
                <a:solidFill>
                  <a:srgbClr val="F8FAFD"/>
                </a:solidFill>
                <a:latin typeface="JetBrains Mono"/>
                <a:ea typeface="JetBrains Mono"/>
                <a:cs typeface="JetBrains Mono"/>
                <a:sym typeface="JetBrains Mono"/>
              </a:rPr>
              <a:t> </a:t>
            </a:r>
            <a:r>
              <a:rPr lang="en">
                <a:solidFill>
                  <a:srgbClr val="00FFFF"/>
                </a:solidFill>
                <a:latin typeface="JetBrains Mono"/>
                <a:ea typeface="JetBrains Mono"/>
                <a:cs typeface="JetBrains Mono"/>
                <a:sym typeface="JetBrains Mono"/>
              </a:rPr>
              <a:t>C</a:t>
            </a:r>
            <a:r>
              <a:rPr lang="en">
                <a:solidFill>
                  <a:srgbClr val="00FF00"/>
                </a:solidFill>
                <a:latin typeface="JetBrains Mono"/>
                <a:ea typeface="JetBrains Mono"/>
                <a:cs typeface="JetBrains Mono"/>
                <a:sym typeface="JetBrains Mono"/>
              </a:rPr>
              <a:t>L</a:t>
            </a:r>
            <a:r>
              <a:rPr lang="en">
                <a:solidFill>
                  <a:srgbClr val="FF9900"/>
                </a:solidFill>
                <a:latin typeface="JetBrains Mono"/>
                <a:ea typeface="JetBrains Mono"/>
                <a:cs typeface="JetBrains Mono"/>
                <a:sym typeface="JetBrains Mono"/>
              </a:rPr>
              <a:t>I</a:t>
            </a:r>
            <a:r>
              <a:rPr lang="en">
                <a:latin typeface="JetBrains Mono"/>
                <a:ea typeface="JetBrains Mono"/>
                <a:cs typeface="JetBrains Mono"/>
                <a:sym typeface="JetBrains Mono"/>
              </a:rPr>
              <a:t> developers can test database functions too!</a:t>
            </a:r>
            <a:endParaRPr>
              <a:latin typeface="JetBrains Mono"/>
              <a:ea typeface="JetBrains Mono"/>
              <a:cs typeface="JetBrains Mono"/>
              <a:sym typeface="JetBrains Mono"/>
            </a:endParaRPr>
          </a:p>
        </p:txBody>
      </p:sp>
      <p:pic>
        <p:nvPicPr>
          <p:cNvPr id="107" name="Google Shape;107;p21"/>
          <p:cNvPicPr preferRelativeResize="0"/>
          <p:nvPr/>
        </p:nvPicPr>
        <p:blipFill>
          <a:blip r:embed="rId3">
            <a:alphaModFix/>
          </a:blip>
          <a:stretch>
            <a:fillRect/>
          </a:stretch>
        </p:blipFill>
        <p:spPr>
          <a:xfrm>
            <a:off x="152400" y="2105575"/>
            <a:ext cx="8839204" cy="238675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1" name="Shape 111"/>
        <p:cNvGrpSpPr/>
        <p:nvPr/>
      </p:nvGrpSpPr>
      <p:grpSpPr>
        <a:xfrm>
          <a:off x="0" y="0"/>
          <a:ext cx="0" cy="0"/>
          <a:chOff x="0" y="0"/>
          <a:chExt cx="0" cy="0"/>
        </a:xfrm>
      </p:grpSpPr>
      <p:sp>
        <p:nvSpPr>
          <p:cNvPr id="112" name="Google Shape;112;p22"/>
          <p:cNvSpPr txBox="1"/>
          <p:nvPr>
            <p:ph type="title"/>
          </p:nvPr>
        </p:nvSpPr>
        <p:spPr>
          <a:xfrm>
            <a:off x="1942500" y="2285400"/>
            <a:ext cx="5259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solidFill>
                  <a:srgbClr val="FDFBD4"/>
                </a:solidFill>
                <a:latin typeface="JetBrains Mono"/>
                <a:ea typeface="JetBrains Mono"/>
                <a:cs typeface="JetBrains Mono"/>
                <a:sym typeface="JetBrains Mono"/>
              </a:rPr>
              <a:t>Need We Say More?</a:t>
            </a:r>
            <a:endParaRPr b="1">
              <a:solidFill>
                <a:srgbClr val="FDFBD4"/>
              </a:solidFill>
              <a:latin typeface="JetBrains Mono"/>
              <a:ea typeface="JetBrains Mono"/>
              <a:cs typeface="JetBrains Mono"/>
              <a:sym typeface="JetBrains Mon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DFBD4"/>
      </a:lt1>
      <a:dk2>
        <a:srgbClr val="595959"/>
      </a:dk2>
      <a:lt2>
        <a:srgbClr val="EEEEEE"/>
      </a:lt2>
      <a:accent1>
        <a:srgbClr val="FDFBD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